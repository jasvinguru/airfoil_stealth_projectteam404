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70" r:id="rId8"/>
    <p:sldId id="269" r:id="rId9"/>
    <p:sldId id="268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ter"/>
      <p:bold r:id="rId20"/>
    </p:embeddedFont>
    <p:embeddedFont>
      <p:font typeface="JetBrains Mono"/>
      <p:bold r:id="rId21"/>
    </p:embeddedFont>
    <p:embeddedFont>
      <p:font typeface="Plus Jakarta Sans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25255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394644"/>
            <a:ext cx="10120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COLLEGE PROJECT DEFENSE • DATA ANALYSIS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56594"/>
            <a:ext cx="10626328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 dirty="0">
                <a:solidFill>
                  <a:srgbClr val="F8FAFC"/>
                </a:solidFill>
                <a:latin typeface="Plus Jakarta Sans"/>
              </a:rPr>
              <a:t>Decoding Airfoil Self-Noise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33775"/>
            <a:ext cx="8191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Investigating aerodynamic &amp; operating factors influencing acoustic sound pressure levels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25465-4B36-4D97-8CB6-083D91609C8B}"/>
              </a:ext>
            </a:extLst>
          </p:cNvPr>
          <p:cNvSpPr txBox="1"/>
          <p:nvPr/>
        </p:nvSpPr>
        <p:spPr>
          <a:xfrm>
            <a:off x="9398000" y="5214035"/>
            <a:ext cx="234791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8270">
              <a:spcAft>
                <a:spcPts val="200"/>
              </a:spcAft>
            </a:pPr>
            <a:r>
              <a:rPr lang="en-US" b="1" dirty="0">
                <a:solidFill>
                  <a:schemeClr val="bg1"/>
                </a:solidFill>
                <a:latin typeface="Inter"/>
                <a:ea typeface="MS Mincho" panose="02020609040205080304" pitchFamily="49" charset="-128"/>
                <a:cs typeface="Times New Roman" panose="02020603050405020304" pitchFamily="18" charset="0"/>
              </a:rPr>
              <a:t>BY:</a:t>
            </a:r>
            <a:endParaRPr lang="en-US" sz="1800" b="1" dirty="0">
              <a:solidFill>
                <a:schemeClr val="bg1"/>
              </a:solidFill>
              <a:effectLst/>
              <a:latin typeface="Inter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128270" algn="ctr">
              <a:spcAft>
                <a:spcPts val="2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Inter"/>
                <a:ea typeface="MS Mincho" panose="02020609040205080304" pitchFamily="49" charset="-128"/>
                <a:cs typeface="Times New Roman" panose="02020603050405020304" pitchFamily="18" charset="0"/>
              </a:rPr>
              <a:t>JASVINGURU S.(lead) KARTHICK S.</a:t>
            </a:r>
          </a:p>
          <a:p>
            <a:pPr indent="128270" algn="ctr">
              <a:spcAft>
                <a:spcPts val="2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Inter"/>
                <a:ea typeface="MS Mincho" panose="02020609040205080304" pitchFamily="49" charset="-128"/>
                <a:cs typeface="Times New Roman" panose="02020603050405020304" pitchFamily="18" charset="0"/>
              </a:rPr>
              <a:t> JANAK S .V</a:t>
            </a:r>
            <a:r>
              <a:rPr lang="en-US" b="1" dirty="0">
                <a:solidFill>
                  <a:schemeClr val="bg1"/>
                </a:solidFill>
                <a:latin typeface="Inter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indent="128270" algn="ctr">
              <a:spcAft>
                <a:spcPts val="2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Inter"/>
                <a:ea typeface="MS Mincho" panose="02020609040205080304" pitchFamily="49" charset="-128"/>
                <a:cs typeface="Times New Roman" panose="02020603050405020304" pitchFamily="18" charset="0"/>
              </a:rPr>
              <a:t>KIRITHIC M.</a:t>
            </a:r>
            <a:endParaRPr lang="en-US" sz="1600" dirty="0">
              <a:solidFill>
                <a:schemeClr val="bg1"/>
              </a:solidFill>
              <a:effectLst/>
              <a:latin typeface="Inter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34075" y="2771775"/>
            <a:ext cx="5648325" cy="2213371"/>
          </a:xfrm>
          <a:prstGeom prst="roundRect">
            <a:avLst>
              <a:gd name="adj" fmla="val 516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4428"/>
            <a:ext cx="952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76650"/>
            <a:ext cx="952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08871"/>
            <a:ext cx="952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RESEARCH CORE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The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086100"/>
            <a:ext cx="5943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JetBrains Mono"/>
              </a:rPr>
              <a:t>NASA BENCHMARK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371850"/>
            <a:ext cx="5943600" cy="704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0C4A6E"/>
                </a:solidFill>
                <a:latin typeface="JetBrains Mono"/>
              </a:rPr>
              <a:t>1,503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4191000"/>
            <a:ext cx="51149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0369A1"/>
                </a:solidFill>
                <a:latin typeface="Inter"/>
              </a:rPr>
              <a:t>Experimental aerodynamic test runs evaluated across anechoic wind tunnel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006328"/>
            <a:ext cx="4905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200" b="1" i="0" u="none" dirty="0">
                <a:solidFill>
                  <a:srgbClr val="0284C7"/>
                </a:solidFill>
                <a:latin typeface="Inter"/>
              </a:rPr>
              <a:t>Primary Aim: Quantify how wing flight conditions dictate noise emission level.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638550"/>
            <a:ext cx="4905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Key Question: Which parameter exerts strongest dominance over decibel output?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270771"/>
            <a:ext cx="4905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Engineering Goal: Identify optimal parameters for ultra-quiet aerodynamic wings.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12A666-9850-4529-9D70-59A5A5D4B115}"/>
              </a:ext>
            </a:extLst>
          </p:cNvPr>
          <p:cNvSpPr txBox="1"/>
          <p:nvPr/>
        </p:nvSpPr>
        <p:spPr>
          <a:xfrm>
            <a:off x="819149" y="1166143"/>
            <a:ext cx="7664451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600" b="1" dirty="0">
                <a:solidFill>
                  <a:srgbClr val="0070C0"/>
                </a:solidFill>
                <a:latin typeface="Inter"/>
              </a:rPr>
              <a:t>To figure out which factors—like speed, wing size, angle of attack, and air boundary thickness—have the biggest impact on the noise an airfoil creates.</a:t>
            </a:r>
            <a:endParaRPr lang="en-US" sz="1600" b="1" i="0" u="none" dirty="0">
              <a:solidFill>
                <a:srgbClr val="0070C0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2072580" cy="1670446"/>
          </a:xfrm>
          <a:prstGeom prst="roundRect">
            <a:avLst>
              <a:gd name="adj" fmla="val 68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34580" y="3043237"/>
            <a:ext cx="2072580" cy="1670446"/>
          </a:xfrm>
          <a:prstGeom prst="roundRect">
            <a:avLst>
              <a:gd name="adj" fmla="val 68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59560" y="3043237"/>
            <a:ext cx="2072580" cy="1670446"/>
          </a:xfrm>
          <a:prstGeom prst="roundRect">
            <a:avLst>
              <a:gd name="adj" fmla="val 68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84541" y="3043237"/>
            <a:ext cx="2072580" cy="1670446"/>
          </a:xfrm>
          <a:prstGeom prst="roundRect">
            <a:avLst>
              <a:gd name="adj" fmla="val 68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521" y="3043237"/>
            <a:ext cx="2072580" cy="1670446"/>
          </a:xfrm>
          <a:prstGeom prst="roundRect">
            <a:avLst>
              <a:gd name="adj" fmla="val 684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281362"/>
            <a:ext cx="7239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72705" y="3281362"/>
            <a:ext cx="7239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97685" y="3281362"/>
            <a:ext cx="7239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2666" y="3281362"/>
            <a:ext cx="803969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47646" y="3281362"/>
            <a:ext cx="1028700" cy="247650"/>
          </a:xfrm>
          <a:prstGeom prst="roundRect">
            <a:avLst>
              <a:gd name="adj" fmla="val 2307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EXPERIMENTAL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5 Key Aerodynamic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3319462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INPUT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643312"/>
            <a:ext cx="209518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995737"/>
            <a:ext cx="169158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Sound pitch range (200–20,000 Hz).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7955" y="3319462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INPUT 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705" y="3643312"/>
            <a:ext cx="209518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Angle of Attack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705" y="3995737"/>
            <a:ext cx="169158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Wing tilt angle relative to wind.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2935" y="3319462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INPUT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7685" y="3643312"/>
            <a:ext cx="209518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Chord Length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7685" y="3995737"/>
            <a:ext cx="169158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Physical length from front to 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7916" y="3319462"/>
            <a:ext cx="70871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INPUT U∞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2666" y="3643312"/>
            <a:ext cx="209518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Velocity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2666" y="3995737"/>
            <a:ext cx="169158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Oncoming air speed (31–71 m/s).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2896" y="3319462"/>
            <a:ext cx="933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JetBrains Mono"/>
              </a:rPr>
              <a:t>TARGET SSPL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646" y="3643312"/>
            <a:ext cx="209518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Sound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646" y="3995737"/>
            <a:ext cx="169158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Acoustic output (103–140 dB).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6607"/>
            <a:ext cx="2600325" cy="2043707"/>
          </a:xfrm>
          <a:prstGeom prst="roundRect">
            <a:avLst>
              <a:gd name="adj" fmla="val 5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76562"/>
            <a:ext cx="2600325" cy="1803796"/>
          </a:xfrm>
          <a:prstGeom prst="roundRect">
            <a:avLst>
              <a:gd name="adj" fmla="val 63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76562"/>
            <a:ext cx="2600325" cy="1803796"/>
          </a:xfrm>
          <a:prstGeom prst="roundRect">
            <a:avLst>
              <a:gd name="adj" fmla="val 63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856607"/>
            <a:ext cx="2600325" cy="2043707"/>
          </a:xfrm>
          <a:prstGeom prst="roundRect">
            <a:avLst>
              <a:gd name="adj" fmla="val 5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9473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21468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3214687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309473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199507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325" y="3319462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319462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4975" y="3199507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INTUITIVE MENTAL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Car Window Highway Analogy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590032"/>
            <a:ext cx="176009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Fast Driving</a:t>
            </a:r>
            <a:r>
              <a:rPr lang="en-US" sz="1500" b="1" i="0" u="none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1600" dirty="0"/>
              <a:t>Velocity)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7725" y="3942457"/>
            <a:ext cx="22193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Higher airspeed creates louder rushing wind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709987"/>
            <a:ext cx="238751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Tilting Hand</a:t>
            </a:r>
            <a:r>
              <a:rPr lang="en-US" sz="1500" b="1" i="0" u="none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1600" dirty="0"/>
              <a:t>Angle of Attack)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8550" y="4062412"/>
            <a:ext cx="22193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Steeper tilt angle catches air and vibrates harder.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709987"/>
            <a:ext cx="221195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Air Swirls</a:t>
            </a:r>
            <a:r>
              <a:rPr lang="en-US" sz="1500" b="1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1100" dirty="0"/>
              <a:t>Displacement Thickness)</a:t>
            </a:r>
            <a:endParaRPr sz="11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29375" y="4062412"/>
            <a:ext cx="22193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Thicker turbulent air layer rolling over the hand.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590032"/>
            <a:ext cx="213096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Whistle Pitch</a:t>
            </a:r>
            <a:r>
              <a:rPr lang="en-US" sz="1500" b="1" i="0" u="none" dirty="0">
                <a:solidFill>
                  <a:srgbClr val="0F172A"/>
                </a:solidFill>
                <a:latin typeface="Plus Jakarta Sans"/>
              </a:rPr>
              <a:t> (</a:t>
            </a:r>
            <a:r>
              <a:rPr lang="en-US" sz="1600" dirty="0"/>
              <a:t>Frequency )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20200" y="3942457"/>
            <a:ext cx="22193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Frequency shift from deep rumbles to high shrieks.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051774" y="2474714"/>
            <a:ext cx="4530625" cy="1308496"/>
          </a:xfrm>
          <a:prstGeom prst="roundRect">
            <a:avLst>
              <a:gd name="adj" fmla="val 8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51774" y="3973710"/>
            <a:ext cx="4530625" cy="1308496"/>
          </a:xfrm>
          <a:prstGeom prst="roundRect">
            <a:avLst>
              <a:gd name="adj" fmla="val 8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82960"/>
            <a:ext cx="6137374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906785"/>
            <a:ext cx="5889724" cy="394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DATA ANALYSIS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Exploratory Visualizations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899" y="2712839"/>
            <a:ext cx="49021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Inverse Frequency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899" y="3065264"/>
            <a:ext cx="41496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Sound level drops significantly at higher pitch frequencies.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9899" y="4211835"/>
            <a:ext cx="49021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Angle Disruption Spike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9899" y="4564260"/>
            <a:ext cx="41496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Steeper angle exponentially thickens turbulent air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60566C-56F2-42E3-A1AE-3835D6ACB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718" y="745807"/>
            <a:ext cx="6306430" cy="4553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D472DD-68B4-47BE-86C5-0A7C224382B1}"/>
              </a:ext>
            </a:extLst>
          </p:cNvPr>
          <p:cNvSpPr txBox="1"/>
          <p:nvPr/>
        </p:nvSpPr>
        <p:spPr>
          <a:xfrm flipH="1">
            <a:off x="1933786" y="1938867"/>
            <a:ext cx="191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A07B363B-C591-46B2-B543-35B6421B2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68" y="1225205"/>
            <a:ext cx="4851400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rgbClr val="0070C0"/>
                </a:solidFill>
                <a:latin typeface="Google Sans Text"/>
              </a:rPr>
              <a:t>Identifies Key Relationships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: 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Shows how different aerodynamic parameters relate to one another.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rgbClr val="0070C0"/>
                </a:solidFill>
                <a:latin typeface="Google Sans Text"/>
              </a:rPr>
              <a:t>Strongest Positive Link (0.75</a:t>
            </a:r>
            <a:r>
              <a:rPr lang="en-US" altLang="en-US" sz="1600" b="1" u="sng" dirty="0">
                <a:solidFill>
                  <a:srgbClr val="0070C0"/>
                </a:solidFill>
                <a:latin typeface="Google Sans Text"/>
              </a:rPr>
              <a:t>)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: Angle of attack (alpha) has a high positive correlation with air displacement thickness (delta), meaning higher angles create larger air disruption.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solidFill>
                <a:srgbClr val="0070C0"/>
              </a:solidFill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rgbClr val="0070C0"/>
                </a:solidFill>
                <a:latin typeface="Google Sans Text"/>
              </a:rPr>
              <a:t>Noise Impact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: 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Frequency (f) and SSPL show negative correlations with several features, helping pinpoint which variables directly drive noise generation.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solidFill>
                <a:srgbClr val="0070C0"/>
              </a:solidFill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rgbClr val="0070C0"/>
                </a:solidFill>
                <a:latin typeface="Google Sans Text"/>
              </a:rPr>
              <a:t>Key Takeaway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: 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Allows us to focus on critical parameters like alpha and delta rather than redundant data.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69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75047-553C-455E-B7C8-A1C3142A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102" y="791308"/>
            <a:ext cx="6716062" cy="464884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CB0EE6F-043B-4099-A9E4-9FA0FAD2B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1355658"/>
            <a:ext cx="5142502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rgbClr val="0070C0"/>
                </a:solidFill>
                <a:latin typeface="Google Sans Text"/>
              </a:rPr>
              <a:t>Direct Impact of Pitch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: 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As the angle of attack (alpha) increases, air disruption (delta) increases significantly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solidFill>
                <a:srgbClr val="0070C0"/>
              </a:solidFill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rgbClr val="0070C0"/>
                </a:solidFill>
                <a:latin typeface="Google Sans Text"/>
              </a:rPr>
              <a:t>Stable at Low Angles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: 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Below 10 degrees, boundary layer disruption remains very low across all flight speeds (</a:t>
            </a:r>
            <a:r>
              <a:rPr lang="en-US" altLang="en-US" sz="1600" b="1" dirty="0" err="1">
                <a:solidFill>
                  <a:srgbClr val="0070C0"/>
                </a:solidFill>
                <a:latin typeface="Google Sans Text"/>
              </a:rPr>
              <a:t>U_infinity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).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solidFill>
                <a:srgbClr val="0070C0"/>
              </a:solidFill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rgbClr val="0070C0"/>
                </a:solidFill>
                <a:latin typeface="Google Sans Text"/>
              </a:rPr>
              <a:t>Turbulence Spike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: 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Beyond 12–15 degrees, air disruption spikes sharply due to flow separation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solidFill>
                <a:srgbClr val="0070C0"/>
              </a:solidFill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rgbClr val="0070C0"/>
                </a:solidFill>
                <a:latin typeface="Google Sans Text"/>
              </a:rPr>
              <a:t>Key Takeaway</a:t>
            </a:r>
            <a:r>
              <a:rPr lang="en-US" altLang="en-US" b="1" dirty="0">
                <a:solidFill>
                  <a:srgbClr val="0070C0"/>
                </a:solidFill>
                <a:latin typeface="Google Sans Text"/>
              </a:rPr>
              <a:t>: </a:t>
            </a:r>
            <a:r>
              <a:rPr lang="en-US" altLang="en-US" sz="1600" b="1" dirty="0">
                <a:solidFill>
                  <a:srgbClr val="0070C0"/>
                </a:solidFill>
                <a:latin typeface="Google Sans Text"/>
              </a:rPr>
              <a:t>Keeping the aircraft at lower angles of attack prevents heavy air disruption and maintains smooth airflow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23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5923D-6E0B-4756-AFE1-997503CBC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558" y="773305"/>
            <a:ext cx="6868484" cy="482032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A907425-34F5-4FF9-932B-83ABC1BA2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33" y="1449038"/>
            <a:ext cx="518160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Overall Noise Profile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Illustrates the complete range and frequency of noise levels generated during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Peak Noise Level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Most test conditions produce sound levels concentrated between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125 dB and 130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dB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Left-Skewed Tail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A smaller portion of flight conditions achieves quieter operation below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115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dB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Key Takeaway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Proves standard operations are noisy, highlighting the need for targeted noise-reduction strategies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589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B51BBB-31FD-4807-9E79-5845DE35D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414" y="820412"/>
            <a:ext cx="6658904" cy="465837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C130419-CBAB-498C-81D1-4AD5E83E0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82" y="1485504"/>
            <a:ext cx="5247280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Overall Noise Profile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Illustrates the complete range and frequency of noise levels generated during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Peak Noise Level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Most test conditions produce sound levels concentrated between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125 dB and 130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dB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Left-Skewed Tail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A smaller portion of flight conditions achieves quieter operation below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115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dB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Key Takeaway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Proves standard operations are noisy, highlighting the need for targeted noise-reduction strategies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208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478" y="2068710"/>
            <a:ext cx="5705921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44428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76650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08871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PHYSICS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Boundary Layer &amp; Noise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06328"/>
            <a:ext cx="4790628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Surface Friction: Smooth flow turns turbulent along the top suction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638550"/>
            <a:ext cx="4790628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Displacement Layer (δ): Boundary thickness creates acoustic pressure waves.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270771"/>
            <a:ext cx="4790628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Trailing Edge Scatter: Turbulent vortices leave edge as far-field sound noise.</a:t>
            </a:r>
          </a:p>
        </p:txBody>
      </p:sp>
      <p:pic>
        <p:nvPicPr>
          <p:cNvPr id="1026" name="Picture 2" descr="Boundary Layer Diagram">
            <a:extLst>
              <a:ext uri="{FF2B5EF4-FFF2-40B4-BE49-F238E27FC236}">
                <a16:creationId xmlns:a16="http://schemas.microsoft.com/office/drawing/2014/main" id="{AB55E51B-BA6C-48CA-BEFA-FB781CA3D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304" y="2149503"/>
            <a:ext cx="5728700" cy="2972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1750"/>
            <a:ext cx="3505200" cy="2613421"/>
          </a:xfrm>
          <a:prstGeom prst="roundRect">
            <a:avLst>
              <a:gd name="adj" fmla="val 43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566987"/>
            <a:ext cx="3505200" cy="2622946"/>
          </a:xfrm>
          <a:prstGeom prst="roundRect">
            <a:avLst>
              <a:gd name="adj" fmla="val 4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66987"/>
            <a:ext cx="3505200" cy="2622946"/>
          </a:xfrm>
          <a:prstGeom prst="roundRect">
            <a:avLst>
              <a:gd name="adj" fmla="val 4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FEATURE CORRELATION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Strongest Relationships 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481" y="2886075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JetBrains Mono"/>
              </a:rPr>
              <a:t>RANK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481" y="3248025"/>
            <a:ext cx="3881437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JetBrains Mono"/>
              </a:rPr>
              <a:t>-0.39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445" y="4038600"/>
            <a:ext cx="407550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Frequency (f)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481" y="4391025"/>
            <a:ext cx="38814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Dominant inverse driver of sound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5281" y="2881312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JetBrains Mono"/>
              </a:rPr>
              <a:t>RANK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5281" y="3243262"/>
            <a:ext cx="3881437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JetBrains Mono"/>
              </a:rPr>
              <a:t>-0.31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8245" y="4033837"/>
            <a:ext cx="40755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Disruption (δ)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5281" y="4395787"/>
            <a:ext cx="38814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Direct physical acoustic turbulence marker.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9081" y="2881312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JetBrains Mono"/>
              </a:rPr>
              <a:t>RANK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9081" y="3243262"/>
            <a:ext cx="3881437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JetBrains Mono"/>
              </a:rPr>
              <a:t>+0.75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2045" y="4033837"/>
            <a:ext cx="40755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Angle (α vs 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9081" y="4395787"/>
            <a:ext cx="38814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Primary cause of boundary layer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4542"/>
            <a:ext cx="5334000" cy="2687835"/>
          </a:xfrm>
          <a:prstGeom prst="roundRect">
            <a:avLst>
              <a:gd name="adj" fmla="val 425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34542"/>
            <a:ext cx="5334000" cy="2687835"/>
          </a:xfrm>
          <a:prstGeom prst="roundRect">
            <a:avLst>
              <a:gd name="adj" fmla="val 425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0125" y="2925067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38925" y="2925067"/>
            <a:ext cx="8001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MACHINE LEARNING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Random Forest Predictor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2963167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JetBrains Mono"/>
              </a:rPr>
              <a:t>TARGET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439417"/>
            <a:ext cx="569118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166534"/>
                </a:solidFill>
                <a:latin typeface="JetBrains Mono"/>
              </a:rPr>
              <a:t>98.27%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239517"/>
            <a:ext cx="59757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4532D"/>
                </a:solidFill>
                <a:latin typeface="Plus Jakarta Sans"/>
              </a:rPr>
              <a:t>Air Disruption R²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591942"/>
            <a:ext cx="569118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5803D"/>
                </a:solidFill>
                <a:latin typeface="Inter"/>
              </a:rPr>
              <a:t>Near-perfect prediction of boundary thickness delta.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4175" y="2963167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JetBrains Mono"/>
              </a:rPr>
              <a:t>TARGET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439417"/>
            <a:ext cx="5553075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75985"/>
                </a:solidFill>
                <a:latin typeface="JetBrains Mono"/>
              </a:rPr>
              <a:t>90.41%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4239517"/>
            <a:ext cx="55530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C4A6E"/>
                </a:solidFill>
                <a:latin typeface="Plus Jakarta Sans"/>
              </a:rPr>
              <a:t>Sound Level SSPL R²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4591942"/>
            <a:ext cx="55530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0369A1"/>
                </a:solidFill>
                <a:latin typeface="Inter"/>
              </a:rPr>
              <a:t>Highly accurate acoustic decibel output modeling.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6607"/>
            <a:ext cx="3505200" cy="2043707"/>
          </a:xfrm>
          <a:prstGeom prst="roundRect">
            <a:avLst>
              <a:gd name="adj" fmla="val 5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76562"/>
            <a:ext cx="3505200" cy="1803796"/>
          </a:xfrm>
          <a:prstGeom prst="roundRect">
            <a:avLst>
              <a:gd name="adj" fmla="val 63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6607"/>
            <a:ext cx="3505200" cy="2043707"/>
          </a:xfrm>
          <a:prstGeom prst="roundRect">
            <a:avLst>
              <a:gd name="adj" fmla="val 5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9473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146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09473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199507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3319462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287" y="3199507"/>
            <a:ext cx="219075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PRACTICAL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Quieter Airfoil Design Guidelines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590032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Stealth Envelope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42457"/>
            <a:ext cx="31242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Keep boundary thickness below 0.0025m for ultra-quiet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709987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Low Angle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4062412"/>
            <a:ext cx="3124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Maintain tilt angle below 5 degrees to prevent air detachment.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590032"/>
            <a:ext cx="387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Smooth Air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942457"/>
            <a:ext cx="31242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Minimize surface boundary disruption to prevent peak acoustic energy.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76750" y="4558605"/>
            <a:ext cx="1657350" cy="266700"/>
          </a:xfrm>
          <a:prstGeom prst="roundRect">
            <a:avLst>
              <a:gd name="adj" fmla="val 214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4558605"/>
            <a:ext cx="1428750" cy="266700"/>
          </a:xfrm>
          <a:prstGeom prst="roundRect">
            <a:avLst>
              <a:gd name="adj" fmla="val 214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25578" y="2032694"/>
            <a:ext cx="2940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38BDF8"/>
                </a:solidFill>
                <a:latin typeface="JetBrains Mono"/>
              </a:rPr>
              <a:t>PROJECT </a:t>
            </a:r>
            <a:r>
              <a:rPr lang="en-US" sz="1050" b="1" i="0" u="none" dirty="0">
                <a:solidFill>
                  <a:srgbClr val="38BDF8"/>
                </a:solidFill>
                <a:latin typeface="JetBrains Mono"/>
              </a:rPr>
              <a:t>DEFENSE </a:t>
            </a:r>
            <a:r>
              <a:rPr sz="1050" b="1" i="0" u="none" dirty="0">
                <a:solidFill>
                  <a:srgbClr val="38BDF8"/>
                </a:solidFill>
                <a:latin typeface="JetBrains Mono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2394644"/>
            <a:ext cx="10001250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 dirty="0">
                <a:solidFill>
                  <a:srgbClr val="F8FAFC"/>
                </a:solidFill>
                <a:latin typeface="Plus Jakarta Sans"/>
              </a:rPr>
              <a:t>Thank You! Questions</a:t>
            </a:r>
            <a:r>
              <a:rPr lang="en-US" sz="3600" b="1" i="0" u="none" dirty="0">
                <a:solidFill>
                  <a:srgbClr val="F8FAFC"/>
                </a:solidFill>
                <a:latin typeface="Plus Jakarta Sans"/>
              </a:rPr>
              <a:t>?</a:t>
            </a:r>
            <a:endParaRPr sz="36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3682305"/>
            <a:ext cx="7620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Aerodynamic flight conditions directly dictate airfoil acoustic signatures with 90%+ predictable ML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4831" y="4596705"/>
            <a:ext cx="188118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38BDF8"/>
                </a:solidFill>
                <a:latin typeface="JetBrains Mono"/>
              </a:rPr>
              <a:t>Frequency #1 </a:t>
            </a:r>
            <a:r>
              <a:rPr lang="en-US" sz="1050" b="1" dirty="0">
                <a:solidFill>
                  <a:srgbClr val="38BDF8"/>
                </a:solidFill>
                <a:latin typeface="JetBrains Mono"/>
              </a:rPr>
              <a:t>Target</a:t>
            </a:r>
            <a:endParaRPr sz="1050" b="1" i="0" u="none" dirty="0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03156" y="4596705"/>
            <a:ext cx="159543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JetBrains Mono"/>
              </a:rPr>
              <a:t>R² = 90.41% SSPL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804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Inter</vt:lpstr>
      <vt:lpstr>Arial</vt:lpstr>
      <vt:lpstr>Plus Jakarta Sans</vt:lpstr>
      <vt:lpstr>Calibri</vt:lpstr>
      <vt:lpstr>JetBrains Mono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jasvin guru</cp:lastModifiedBy>
  <cp:revision>7</cp:revision>
  <dcterms:created xsi:type="dcterms:W3CDTF">2013-01-27T09:14:16Z</dcterms:created>
  <dcterms:modified xsi:type="dcterms:W3CDTF">2026-10-02T04:02:49Z</dcterms:modified>
  <cp:category/>
</cp:coreProperties>
</file>